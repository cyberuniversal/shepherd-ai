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55be0541e540a3" /><Relationship Type="http://schemas.openxmlformats.org/officeDocument/2006/relationships/extended-properties" Target="/docProps/app.xml" Id="R08dcd61cda6d4af2" /><Relationship Type="http://schemas.openxmlformats.org/officeDocument/2006/relationships/officeDocument" Target="/ppt/presentation.xml" Id="Rac713023c3cd46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94337ce2a348c6"/>
  </p:sldMasterIdLst>
  <p:notesMasterIdLst>
    <p:notesMasterId xmlns:r="http://schemas.openxmlformats.org/officeDocument/2006/relationships" r:id="Rdf66c0fe91de4abc"/>
  </p:notesMasterIdLst>
  <p:sldIdLst>
    <p:sldId xmlns:r="http://schemas.openxmlformats.org/officeDocument/2006/relationships" id="256" r:id="R1bd25c70e1e844ef"/>
    <p:sldId xmlns:r="http://schemas.openxmlformats.org/officeDocument/2006/relationships" id="257" r:id="Reb8a485601094867"/>
    <p:sldId xmlns:r="http://schemas.openxmlformats.org/officeDocument/2006/relationships" id="258" r:id="Rc4f192c3fcd54f78"/>
    <p:sldId xmlns:r="http://schemas.openxmlformats.org/officeDocument/2006/relationships" id="259" r:id="R26ba4a050d4b49f1"/>
    <p:sldId xmlns:r="http://schemas.openxmlformats.org/officeDocument/2006/relationships" id="260" r:id="Rea7aaab00c0f4b81"/>
    <p:sldId xmlns:r="http://schemas.openxmlformats.org/officeDocument/2006/relationships" id="261" r:id="Rbe96e07227ca4d02"/>
    <p:sldId xmlns:r="http://schemas.openxmlformats.org/officeDocument/2006/relationships" id="262" r:id="R6d7c0cd3c36e41d1"/>
    <p:sldId xmlns:r="http://schemas.openxmlformats.org/officeDocument/2006/relationships" id="263" r:id="Rd290417109834597"/>
    <p:sldId xmlns:r="http://schemas.openxmlformats.org/officeDocument/2006/relationships" id="264" r:id="R866d7c30541f4c6f"/>
    <p:sldId xmlns:r="http://schemas.openxmlformats.org/officeDocument/2006/relationships" id="265" r:id="Rf79089ce4d944a14"/>
    <p:sldId xmlns:r="http://schemas.openxmlformats.org/officeDocument/2006/relationships" id="266" r:id="R2fed09e5cd9e4c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56efccf1b24d2d" /><Relationship Type="http://schemas.openxmlformats.org/officeDocument/2006/relationships/slideMaster" Target="/ppt/slideMasters/slideMaster1.xml" Id="R5394337ce2a348c6" /><Relationship Type="http://schemas.openxmlformats.org/officeDocument/2006/relationships/notesMaster" Target="/ppt/notesMasters/notesMaster1.xml" Id="Rdf66c0fe91de4abc" /><Relationship Type="http://schemas.openxmlformats.org/officeDocument/2006/relationships/presProps" Target="/ppt/presProps.xml" Id="Rb5b33f1b78f8420e" /><Relationship Type="http://schemas.openxmlformats.org/officeDocument/2006/relationships/tableStyles" Target="/ppt/tableStyles.xml" Id="Rc2bf4f24902e467a" /><Relationship Type="http://schemas.openxmlformats.org/officeDocument/2006/relationships/slide" Target="/ppt/slides/slide1.xml" Id="R1bd25c70e1e844ef" /><Relationship Type="http://schemas.openxmlformats.org/officeDocument/2006/relationships/slide" Target="/ppt/slides/slide2.xml" Id="Reb8a485601094867" /><Relationship Type="http://schemas.openxmlformats.org/officeDocument/2006/relationships/slide" Target="/ppt/slides/slide3.xml" Id="Rc4f192c3fcd54f78" /><Relationship Type="http://schemas.openxmlformats.org/officeDocument/2006/relationships/slide" Target="/ppt/slides/slide4.xml" Id="R26ba4a050d4b49f1" /><Relationship Type="http://schemas.openxmlformats.org/officeDocument/2006/relationships/slide" Target="/ppt/slides/slide5.xml" Id="Rea7aaab00c0f4b81" /><Relationship Type="http://schemas.openxmlformats.org/officeDocument/2006/relationships/slide" Target="/ppt/slides/slide6.xml" Id="Rbe96e07227ca4d02" /><Relationship Type="http://schemas.openxmlformats.org/officeDocument/2006/relationships/slide" Target="/ppt/slides/slide7.xml" Id="R6d7c0cd3c36e41d1" /><Relationship Type="http://schemas.openxmlformats.org/officeDocument/2006/relationships/slide" Target="/ppt/slides/slide8.xml" Id="Rd290417109834597" /><Relationship Type="http://schemas.openxmlformats.org/officeDocument/2006/relationships/slide" Target="/ppt/slides/slide9.xml" Id="R866d7c30541f4c6f" /><Relationship Type="http://schemas.openxmlformats.org/officeDocument/2006/relationships/slide" Target="/ppt/slides/slide10.xml" Id="Rf79089ce4d944a14" /><Relationship Type="http://schemas.openxmlformats.org/officeDocument/2006/relationships/slide" Target="/ppt/slides/slide11.xml" Id="R2fed09e5cd9e4c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1bbb2bb4da43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f9337747e540b9" /><Relationship Type="http://schemas.openxmlformats.org/officeDocument/2006/relationships/notesMaster" Target="/ppt/notesMasters/notesMaster1.xml" Id="Rfccd98eee7a447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b6a654d1914144" /><Relationship Type="http://schemas.openxmlformats.org/officeDocument/2006/relationships/notesMaster" Target="/ppt/notesMasters/notesMaster1.xml" Id="R991cc862f4ba4e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f297e279a8474a" /><Relationship Type="http://schemas.openxmlformats.org/officeDocument/2006/relationships/notesMaster" Target="/ppt/notesMasters/notesMaster1.xml" Id="R596f2b8c64214f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901135003f474c" /><Relationship Type="http://schemas.openxmlformats.org/officeDocument/2006/relationships/notesMaster" Target="/ppt/notesMasters/notesMaster1.xml" Id="R30e875e9507244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cacdf995dd4ebb" /><Relationship Type="http://schemas.openxmlformats.org/officeDocument/2006/relationships/notesMaster" Target="/ppt/notesMasters/notesMaster1.xml" Id="Ra291bda3cc9248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8b2160b27545af" /><Relationship Type="http://schemas.openxmlformats.org/officeDocument/2006/relationships/notesMaster" Target="/ppt/notesMasters/notesMaster1.xml" Id="Rf9031c5d2c3c4c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7670b2b7094129" /><Relationship Type="http://schemas.openxmlformats.org/officeDocument/2006/relationships/notesMaster" Target="/ppt/notesMasters/notesMaster1.xml" Id="R30028daf5f8140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430d6ff1be488c" /><Relationship Type="http://schemas.openxmlformats.org/officeDocument/2006/relationships/notesMaster" Target="/ppt/notesMasters/notesMaster1.xml" Id="Re322363643b54c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51f50498534c70" /><Relationship Type="http://schemas.openxmlformats.org/officeDocument/2006/relationships/notesMaster" Target="/ppt/notesMasters/notesMaster1.xml" Id="Refb9ae83248b49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12022d80294cea" /><Relationship Type="http://schemas.openxmlformats.org/officeDocument/2006/relationships/notesMaster" Target="/ppt/notesMasters/notesMaster1.xml" Id="R3265424537c84d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7a3889806f41ed" /><Relationship Type="http://schemas.openxmlformats.org/officeDocument/2006/relationships/notesMaster" Target="/ppt/notesMasters/notesMaster1.xml" Id="R332f377592ff47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6ee78f46804b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6c6ca419d5458b" /><Relationship Type="http://schemas.openxmlformats.org/officeDocument/2006/relationships/slideLayout" Target="/ppt/slideLayouts/slideLayout1.xml" Id="R87262582ac1b4d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262582ac1b4d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7dd217ce74d1c" /><Relationship Type="http://schemas.openxmlformats.org/officeDocument/2006/relationships/notesSlide" Target="/ppt/notesSlides/notesSlide1.xml" Id="R28c0bfe338f143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0b0a3449449f9" /><Relationship Type="http://schemas.openxmlformats.org/officeDocument/2006/relationships/notesSlide" Target="/ppt/notesSlides/notesSlide2.xml" Id="R825e10a3ec864d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d6a447e1547b4" /><Relationship Type="http://schemas.openxmlformats.org/officeDocument/2006/relationships/notesSlide" Target="/ppt/notesSlides/notesSlide3.xml" Id="R0c41180101e342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776e89d4b4896" /><Relationship Type="http://schemas.openxmlformats.org/officeDocument/2006/relationships/notesSlide" Target="/ppt/notesSlides/notesSlide4.xml" Id="R6d7807c8cdc847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28f810eca4b82" /><Relationship Type="http://schemas.openxmlformats.org/officeDocument/2006/relationships/notesSlide" Target="/ppt/notesSlides/notesSlide5.xml" Id="R8285f953241849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4a8c1b4f54d03" /><Relationship Type="http://schemas.openxmlformats.org/officeDocument/2006/relationships/image" Target="/ppt/media/image.png" Id="Rcfe011d5be61444c" /><Relationship Type="http://schemas.openxmlformats.org/officeDocument/2006/relationships/notesSlide" Target="/ppt/notesSlides/notesSlide6.xml" Id="R481afe12789442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7addd2fe2483a" /><Relationship Type="http://schemas.openxmlformats.org/officeDocument/2006/relationships/notesSlide" Target="/ppt/notesSlides/notesSlide7.xml" Id="R5315db230d9944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776c6876d41fa" /><Relationship Type="http://schemas.openxmlformats.org/officeDocument/2006/relationships/image" Target="/ppt/media/image2.png" Id="Re9d7a653645b42b6" /><Relationship Type="http://schemas.openxmlformats.org/officeDocument/2006/relationships/notesSlide" Target="/ppt/notesSlides/notesSlide8.xml" Id="R210c70042fc240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12e21d8744fda" /><Relationship Type="http://schemas.openxmlformats.org/officeDocument/2006/relationships/image" Target="/ppt/media/image3.png" Id="R87b1f222f88f4bd2" /><Relationship Type="http://schemas.openxmlformats.org/officeDocument/2006/relationships/notesSlide" Target="/ppt/notesSlides/notesSlide9.xml" Id="R98e46e52678e4a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1678293b949cc" /><Relationship Type="http://schemas.openxmlformats.org/officeDocument/2006/relationships/image" Target="/ppt/media/image4.png" Id="R8c061f652d634262" /><Relationship Type="http://schemas.openxmlformats.org/officeDocument/2006/relationships/notesSlide" Target="/ppt/notesSlides/notesSlide10.xml" Id="Re8d4c12e562942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eb92071fc4915" /><Relationship Type="http://schemas.openxmlformats.org/officeDocument/2006/relationships/notesSlide" Target="/ppt/notesSlides/notesSlide11.xml" Id="R1dc52db51f8549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5C5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CDD2E-09F5-4376-B25A-A9D85C67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B2010-B204-444F-B383-942180BA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9E7"/>
                </a:solidFill>
              </a:defRPr>
            </a:pPr>
            <a:r>
              <a:rPr sz="1125" b="1">
                <a:solidFill>
                  <a:srgbClr val="DCE9E7"/>
                </a:solidFill>
              </a:rPr>
              <a:t>VALIDATION PLACEMENT IN LOCAL MULTI-UAV LANGUAGE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CE8D1-03F2-4D61-9973-8CEE98AD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9239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When should a language planner be stopped?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DB29B-C42F-459B-BBFC-C00ECCD0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CE9E7"/>
                </a:solidFill>
              </a:defRPr>
            </a:pPr>
            <a:r>
              <a:rPr sz="1875" b="0">
                <a:solidFill>
                  <a:srgbClr val="DCE9E7"/>
                </a:solidFill>
              </a:rPr>
              <a:t>A paired safety, utility, and compute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D6AAC-307C-4D82-8972-BD433533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554CC-DF77-402A-BB8E-4D2E0886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Qwen2.5 3B + 7B  |  11,360 accuracy rows  |  3,600 resource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7DE1D-40EB-4C58-8AD4-A0685B7D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67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9E7"/>
                </a:solidFill>
              </a:defRPr>
            </a:pPr>
            <a:r>
              <a:rPr sz="1050" b="0">
                <a:solidFill>
                  <a:srgbClr val="DCE9E7"/>
                </a:solidFill>
              </a:rPr>
              <a:t>Final mentor-review package  |  12 August 2026</a:t>
            </a:r>
          </a:p>
        </p:txBody>
      </p:sp>
    </p:spTree>
    <p:extLst>
      <p:ext uri="{BB962C8B-B14F-4D97-AF65-F5344CB8AC3E}">
        <p14:creationId xmlns:p14="http://schemas.microsoft.com/office/powerpoint/2010/main" val="121172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8F900-FB5A-4871-A906-CDE9080C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E"/>
                </a:solidFill>
              </a:defRPr>
            </a:pPr>
            <a:r>
              <a:rPr sz="975" b="1">
                <a:solidFill>
                  <a:srgbClr val="0F5C5E"/>
                </a:solidFill>
              </a:rPr>
              <a:t>SHEPHERD-AI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C23BC-4752-4128-BE5E-B7949AAE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A valid-looking plan can still act on missing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26EB4-16E3-421F-8A0A-8F6293D9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118F6-CA65-4A33-993E-D4B2C7B4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Language models can produce structured, fluent plans even when a required fact is absent, a resource is unavailable, or a parameter is unsupported.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D9A14-A25E-414E-9877-87A4CA7B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D78"/>
                </a:solidFill>
              </a:defRPr>
            </a:pPr>
            <a:r>
              <a:rPr sz="1500" b="0">
                <a:solidFill>
                  <a:srgbClr val="5F6D78"/>
                </a:solidFill>
              </a:rPr>
              <a:t>The study asks whether moving validation earlier changes where those failures are contained, without assuming operational execution.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8DFEE-51B0-418F-A0D0-2C2D993C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095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E9E7"/>
          </a:solidFill>
          <a:ln xmlns:a="http://schemas.openxmlformats.org/drawingml/2006/main" w="9525">
            <a:solidFill>
              <a:srgbClr val="2E7B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37681-A3C2-449B-AC1F-E5128453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193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5E"/>
                </a:solidFill>
              </a:defRPr>
            </a:pPr>
            <a:r>
              <a:rPr sz="1125" b="1">
                <a:solidFill>
                  <a:srgbClr val="0F5C5E"/>
                </a:solidFill>
              </a:rPr>
              <a:t>MISSING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B0F02-F507-45D7-8B3D-87BAE59B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66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required mission fact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95683-FB4A-42E0-A802-BBDA6E29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4095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DEDA"/>
          </a:solidFill>
          <a:ln xmlns:a="http://schemas.openxmlformats.org/drawingml/2006/main" w="9525">
            <a:solidFill>
              <a:srgbClr val="B4483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FD129-BC6E-468D-9ED3-8DD2F7B2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861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483E"/>
                </a:solidFill>
              </a:defRPr>
            </a:pPr>
            <a:r>
              <a:rPr sz="1125" b="1">
                <a:solidFill>
                  <a:srgbClr val="B4483E"/>
                </a:solidFill>
              </a:rPr>
              <a:t>CONFLICTING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53C85-AD3D-45A4-9FFA-14D7D214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33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resource or state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936BF-FFF6-4F63-A519-37C1F8D3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9550"/>
            <a:ext cx="4095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E9E7"/>
          </a:solidFill>
          <a:ln xmlns:a="http://schemas.openxmlformats.org/drawingml/2006/main" w="9525">
            <a:solidFill>
              <a:srgbClr val="2E7B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DF165-5259-4903-9AA9-6392E092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529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5E"/>
                </a:solidFill>
              </a:defRPr>
            </a:pPr>
            <a:r>
              <a:rPr sz="1125" b="1">
                <a:solidFill>
                  <a:srgbClr val="0F5C5E"/>
                </a:solidFill>
              </a:rPr>
              <a:t>UNSUPPORTED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42147-664B-4C77-899D-7A0B2809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005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endpoint or parameter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9C640-F0FA-4306-8A58-BE86DAC4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A4FAF-8F23-4735-9710-4CDB35F8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D78"/>
                </a:solidFill>
              </a:defRPr>
            </a:pPr>
            <a:r>
              <a:rPr sz="750" b="0">
                <a:solidFill>
                  <a:srgbClr val="5F6D78"/>
                </a:solidFill>
              </a:rPr>
              <a:t>Final manuscript, Sections 1-2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AF9857-28D1-4CB0-8303-9AB29B41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D78"/>
                </a:solidFill>
              </a:defRPr>
            </a:pPr>
            <a:r>
              <a:rPr sz="825" b="1">
                <a:solidFill>
                  <a:srgbClr val="5F6D7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66605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A47C95-9874-4099-B3DF-ED112A66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E"/>
                </a:solidFill>
              </a:defRPr>
            </a:pPr>
            <a:r>
              <a:rPr sz="975" b="1">
                <a:solidFill>
                  <a:srgbClr val="0F5C5E"/>
                </a:solidFill>
              </a:rPr>
              <a:t>SHEPHERD-AI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89C46-73D4-4910-AB50-72BEF3FF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The frozen design pairs every method on the same source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E8D1B-658F-4BA3-8E57-7C0F7F3B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7F474-03E1-426A-A75C-68D05BBD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F5C5E"/>
                </a:solidFill>
              </a:defRPr>
            </a:pPr>
            <a:r>
              <a:rPr sz="3525" b="1">
                <a:solidFill>
                  <a:srgbClr val="0F5C5E"/>
                </a:solidFill>
              </a:rPr>
              <a:t>75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251D3-B589-4A7D-8D80-223A2DC3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</a:defRPr>
            </a:pPr>
            <a:r>
              <a:rPr sz="1350" b="0">
                <a:solidFill>
                  <a:srgbClr val="5F6D78"/>
                </a:solidFill>
              </a:rPr>
              <a:t>source sessions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CEF45-5675-442D-9433-0EB4EFAF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85950"/>
            <a:ext cx="95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A038E-1008-4E68-B67B-B28249F7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F5C5E"/>
                </a:solidFill>
              </a:defRPr>
            </a:pPr>
            <a:r>
              <a:rPr sz="3525" b="1">
                <a:solidFill>
                  <a:srgbClr val="0F5C5E"/>
                </a:solidFill>
              </a:rPr>
              <a:t>1,500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4A136-06E7-41EA-89DB-DDE80BAC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</a:defRPr>
            </a:pPr>
            <a:r>
              <a:rPr sz="1350" b="0">
                <a:solidFill>
                  <a:srgbClr val="5F6D78"/>
                </a:solidFill>
              </a:rPr>
              <a:t>official tasks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A1877-7E21-4175-B259-C3995282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85950"/>
            <a:ext cx="95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E9767-C352-415B-9025-61F6F051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F5C5E"/>
                </a:solidFill>
              </a:defRPr>
            </a:pPr>
            <a:r>
              <a:rPr sz="3525" b="1">
                <a:solidFill>
                  <a:srgbClr val="0F5C5E"/>
                </a:solidFill>
              </a:rPr>
              <a:t>284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88480-2EF0-4FBB-AF0A-89ED7F02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</a:defRPr>
            </a:pPr>
            <a:r>
              <a:rPr sz="1350" b="0">
                <a:solidFill>
                  <a:srgbClr val="5F6D78"/>
                </a:solidFill>
              </a:rPr>
              <a:t>held-out clusters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4EF6C-C1F9-4409-BF8E-74107FA3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B4483E"/>
                </a:solidFill>
              </a:defRPr>
            </a:pPr>
            <a:r>
              <a:rPr sz="3525" b="1">
                <a:solidFill>
                  <a:srgbClr val="B4483E"/>
                </a:solidFill>
              </a:rPr>
              <a:t>1,420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EFEE1-6853-4AC3-969B-25309A8A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</a:defRPr>
            </a:pPr>
            <a:r>
              <a:rPr sz="1350" b="0">
                <a:solidFill>
                  <a:srgbClr val="5F6D78"/>
                </a:solidFill>
              </a:rPr>
              <a:t>cases per method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DBF0F-F682-4A20-B390-D42DADC6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00450"/>
            <a:ext cx="95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08EAE-5B39-4EF9-A338-7E00858C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F5C5E"/>
                </a:solidFill>
              </a:defRPr>
            </a:pPr>
            <a:r>
              <a:rPr sz="3525" b="1">
                <a:solidFill>
                  <a:srgbClr val="0F5C5E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2AD92-3002-4240-B73A-F3606F4C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</a:defRPr>
            </a:pPr>
            <a:r>
              <a:rPr sz="1350" b="0">
                <a:solidFill>
                  <a:srgbClr val="5F6D78"/>
                </a:solidFill>
              </a:rPr>
              <a:t>model scales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CC93F7-9098-4B09-883A-97EB05E0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00450"/>
            <a:ext cx="95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D8D5E-6DFF-4CE3-AB38-492DC458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F5C5E"/>
                </a:solidFill>
              </a:defRPr>
            </a:pPr>
            <a:r>
              <a:rPr sz="3525" b="1">
                <a:solidFill>
                  <a:srgbClr val="0F5C5E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E946E-1D08-48BC-A4BC-6DFF94A2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910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</a:defRPr>
            </a:pPr>
            <a:r>
              <a:rPr sz="1350" b="0">
                <a:solidFill>
                  <a:srgbClr val="5F6D78"/>
                </a:solidFill>
              </a:rPr>
              <a:t>methods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B4154E-D04A-4513-8982-CC2F57DC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Five linked variants stay together: canonical execute, official alias, missing-information clarify, restored-information execute, and resource-conflict block.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ACC499-F547-414C-B3B8-67FAB66F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15E6F8-E315-4B3C-84C1-7DD6F8C3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D78"/>
                </a:solidFill>
              </a:defRPr>
            </a:pPr>
            <a:r>
              <a:rPr sz="750" b="0">
                <a:solidFill>
                  <a:srgbClr val="5F6D78"/>
                </a:solidFill>
              </a:rPr>
              <a:t>datasets/multiuav_plat/accuracy_protocol_freeze_v1.json | [E4] MultiUAV-Plat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8E0AB1-6912-4CCA-BBD3-07BC5FF9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D78"/>
                </a:solidFill>
              </a:defRPr>
            </a:pPr>
            <a:r>
              <a:rPr sz="825" b="1">
                <a:solidFill>
                  <a:srgbClr val="5F6D7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929722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080FDB-A316-4865-9D2A-081DD926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E"/>
                </a:solidFill>
              </a:defRPr>
            </a:pPr>
            <a:r>
              <a:rPr sz="975" b="1">
                <a:solidFill>
                  <a:srgbClr val="0F5C5E"/>
                </a:solidFill>
              </a:rPr>
              <a:t>SHEPHERD-AI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B235E-3D94-4D0A-8C1C-642E120B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The final paper is a text-first, static-fidelity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D8F6D-A051-4D44-BBCA-1B7ABA6E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29CCE-F178-4049-8180-912E956B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581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7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4FC80-4B1E-4242-AD71-2100F3A4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5C5E"/>
                </a:solidFill>
              </a:defRPr>
            </a:pPr>
            <a:r>
              <a:rPr sz="1050" b="1">
                <a:solidFill>
                  <a:srgbClr val="0F5C5E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96E7B-86DA-4289-AC00-F2205558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Pinned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1E256-D389-4400-BE3A-88B7690F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194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39987-65C9-401A-810C-6296FB67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432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E7B7A"/>
          </a:solidFill>
          <a:ln xmlns:a="http://schemas.openxmlformats.org/drawingml/2006/main" w="0">
            <a:solidFill>
              <a:srgbClr val="2E7B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D5F8D-1C66-4873-AAEE-90DE77E3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1581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7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9EA38-F2E7-4050-B3AE-A6029B94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289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5C5E"/>
                </a:solidFill>
              </a:defRPr>
            </a:pPr>
            <a:r>
              <a:rPr sz="1050" b="1">
                <a:solidFill>
                  <a:srgbClr val="0F5C5E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49055-8399-4F69-B086-24D676DE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289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Controlled variants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A4463-CF88-43ED-A641-CD15F0E5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194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E6F6B-FAE7-469F-9B79-AB319000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432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E7B7A"/>
          </a:solidFill>
          <a:ln xmlns:a="http://schemas.openxmlformats.org/drawingml/2006/main" w="0">
            <a:solidFill>
              <a:srgbClr val="2E7B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70A1D-B635-4062-B83F-5358906E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1581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DEDA"/>
          </a:solidFill>
          <a:ln xmlns:a="http://schemas.openxmlformats.org/drawingml/2006/main" w="9525">
            <a:solidFill>
              <a:srgbClr val="B448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55F54-3619-429F-9E01-031DDA23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289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483E"/>
                </a:solidFill>
              </a:defRPr>
            </a:pPr>
            <a:r>
              <a:rPr sz="1050" b="1">
                <a:solidFill>
                  <a:srgbClr val="B4483E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196C3-14D5-4B49-B6E7-DF5A044B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M1-M4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9CA26-4890-4B16-BB95-1AA2C01D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194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33D40-DB72-4F02-A48D-A727A000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432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E7B7A"/>
          </a:solidFill>
          <a:ln xmlns:a="http://schemas.openxmlformats.org/drawingml/2006/main" w="0">
            <a:solidFill>
              <a:srgbClr val="2E7B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5E3A38-4739-4E90-9845-52F6EFC5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1581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7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7006DF-EA5B-405F-952C-FF4CA7C5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5C5E"/>
                </a:solidFill>
              </a:defRPr>
            </a:pPr>
            <a:r>
              <a:rPr sz="1050" b="1">
                <a:solidFill>
                  <a:srgbClr val="0F5C5E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100975-6DAD-416E-84D6-97E648BC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Strict parsing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E3C316-6949-4BEA-B80C-0662F4EF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194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260A5C-526E-42ED-892E-D92637E7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432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E7B7A"/>
          </a:solidFill>
          <a:ln xmlns:a="http://schemas.openxmlformats.org/drawingml/2006/main" w="0">
            <a:solidFill>
              <a:srgbClr val="2E7B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E23FF0-3FB6-4A95-A483-AB4E6BF9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1581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7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14E2BD-73B3-47DC-AC3E-02A2E2C2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5C5E"/>
                </a:solidFill>
              </a:defRPr>
            </a:pPr>
            <a:r>
              <a:rPr sz="1050" b="1">
                <a:solidFill>
                  <a:srgbClr val="0F5C5E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3BA162-1026-4597-AEB5-089957A2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Deterministic validators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8F1FA2-5DD6-4533-A257-AAF6A8C3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194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8032DF-9C32-4B1E-9EDE-B4246A6C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432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E7B7A"/>
          </a:solidFill>
          <a:ln xmlns:a="http://schemas.openxmlformats.org/drawingml/2006/main" w="0">
            <a:solidFill>
              <a:srgbClr val="2E7B7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E631B6-BBC0-4B15-BB8A-196C089B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76500"/>
            <a:ext cx="1581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7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41239C-6384-48A1-B3DA-EC8BB160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289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5C5E"/>
                </a:solidFill>
              </a:defRPr>
            </a:pPr>
            <a:r>
              <a:rPr sz="1050" b="1">
                <a:solidFill>
                  <a:srgbClr val="0F5C5E"/>
                </a:solidFill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4EE142-2EB3-4A38-8FBC-99D097BF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289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Scoring + bootstrap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56F9EA-8792-4CDD-B6D5-00BEF69F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483E"/>
                </a:solidFill>
              </a:defRPr>
            </a:pPr>
            <a:r>
              <a:rPr sz="1275" b="1">
                <a:solidFill>
                  <a:srgbClr val="B4483E"/>
                </a:solidFill>
              </a:rPr>
              <a:t>Not in the final M1-M4 path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62ECE1-2B86-49B1-BABD-CE48484D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Whisper speech input  |  DistilBERT span tagging  |  Week 6 vision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2D3DDF-5CD7-4495-B65D-56DBC9FC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</a:defRPr>
            </a:pPr>
            <a:r>
              <a:rPr sz="1350" b="0">
                <a:solidFill>
                  <a:srgbClr val="5F6D78"/>
                </a:solidFill>
              </a:rPr>
              <a:t>Preserved as preliminary roadmap work; excluded from primary claims.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642201-5043-4D15-9729-84E866B1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B755A5-BAEA-4774-A48B-CDAAF2F1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D78"/>
                </a:solidFill>
              </a:defRPr>
            </a:pPr>
            <a:r>
              <a:rPr sz="750" b="0">
                <a:solidFill>
                  <a:srgbClr val="5F6D78"/>
                </a:solidFill>
              </a:rPr>
              <a:t>docs/final_pipeline_architecture.md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7DCEFE-23D5-4377-ADC8-FFABD7E2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D78"/>
                </a:solidFill>
              </a:defRPr>
            </a:pPr>
            <a:r>
              <a:rPr sz="825" b="1">
                <a:solidFill>
                  <a:srgbClr val="5F6D7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537099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0E0EF0-BB8D-4A1D-A11A-738F8724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E"/>
                </a:solidFill>
              </a:defRPr>
            </a:pPr>
            <a:r>
              <a:rPr sz="975" b="1">
                <a:solidFill>
                  <a:srgbClr val="0F5C5E"/>
                </a:solidFill>
              </a:rPr>
              <a:t>SHEPHERD-AI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75536-6737-4516-8BA4-79AC3267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Validation placement is the controlled architectural variable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667A1-3FF9-449D-8E6F-4E92095D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58E80-1EDE-493B-9C9C-A93211E2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50BBE-D66A-4325-8FCF-3C9959CF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483E"/>
                </a:solidFill>
              </a:defRPr>
            </a:pPr>
            <a:r>
              <a:rPr sz="2250" b="1">
                <a:solidFill>
                  <a:srgbClr val="B4483E"/>
                </a:solidFill>
              </a:rPr>
              <a:t>M1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DE304-6778-4D62-A443-C2B9DFE6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Monolithic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A9222-42AC-43DC-8EAE-35EE4A8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</a:defRPr>
            </a:pPr>
            <a:r>
              <a:rPr sz="1350" b="0">
                <a:solidFill>
                  <a:srgbClr val="5F6D78"/>
                </a:solidFill>
              </a:rPr>
              <a:t>One call produces decision +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4CF7E-4658-4023-9B98-66BE218F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</a:defRPr>
            </a:pPr>
            <a:r>
              <a:rPr sz="1200" b="1">
                <a:solidFill>
                  <a:srgbClr val="17212B"/>
                </a:solidFill>
              </a:rPr>
              <a:t>1 model 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D651E-8A7A-4B36-AA89-174B9DA5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43100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94F51-D5D1-45EF-BA6A-85973930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38375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7B7A"/>
                </a:solidFill>
              </a:defRPr>
            </a:pPr>
            <a:r>
              <a:rPr sz="2250" b="1">
                <a:solidFill>
                  <a:srgbClr val="2E7B7A"/>
                </a:solidFill>
              </a:rPr>
              <a:t>M2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96EA1-4787-4C92-ADA5-5956DCC0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0350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Post-plan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32DE3-50CF-406F-A0A2-030F4C99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67125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</a:defRPr>
            </a:pPr>
            <a:r>
              <a:rPr sz="1350" b="0">
                <a:solidFill>
                  <a:srgbClr val="5F6D78"/>
                </a:solidFill>
              </a:rPr>
              <a:t>One call, then deterministic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5DECC-6934-494F-96AE-9CFF1B28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9585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</a:defRPr>
            </a:pPr>
            <a:r>
              <a:rPr sz="1200" b="1">
                <a:solidFill>
                  <a:srgbClr val="17212B"/>
                </a:solidFill>
              </a:rPr>
              <a:t>1 model 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B6A72-0A11-4336-A67D-C7F8E1F4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24566-232A-4513-90BA-8AD6E317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5C5E"/>
                </a:solidFill>
              </a:defRPr>
            </a:pPr>
            <a:r>
              <a:rPr sz="2250" b="1">
                <a:solidFill>
                  <a:srgbClr val="0F5C5E"/>
                </a:solidFill>
              </a:rPr>
              <a:t>M3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989AC-606D-450E-B7BD-8AA81A45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0350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Stage-wise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580D7-5EC8-4718-B712-0D99596D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67125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</a:defRPr>
            </a:pPr>
            <a:r>
              <a:rPr sz="1350" b="0">
                <a:solidFill>
                  <a:srgbClr val="5F6D78"/>
                </a:solidFill>
              </a:rPr>
              <a:t>Evidence decision, validate, then 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43C0F-F373-4E35-AFEA-91EEA5EE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9585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</a:defRPr>
            </a:pPr>
            <a:r>
              <a:rPr sz="1200" b="1">
                <a:solidFill>
                  <a:srgbClr val="17212B"/>
                </a:solidFill>
              </a:rPr>
              <a:t>2 model calls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91A7E1-A9C5-4C22-A036-84A9DF6E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43100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FE6445-5158-45EE-8537-B2ECA190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A72E"/>
                </a:solidFill>
              </a:defRPr>
            </a:pPr>
            <a:r>
              <a:rPr sz="2250" b="1">
                <a:solidFill>
                  <a:srgbClr val="D9A72E"/>
                </a:solidFill>
              </a:rPr>
              <a:t>M4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A77B94-B7AF-4F39-BFF8-F4CFC74D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0350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Model-call-count-matched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4E390A-D315-409F-897A-C5FD33EC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67125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</a:defRPr>
            </a:pPr>
            <a:r>
              <a:rPr sz="1350" b="0">
                <a:solidFill>
                  <a:srgbClr val="5F6D78"/>
                </a:solidFill>
              </a:rPr>
              <a:t>Two calls, validation after planning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D6E1C7-C1D4-45D1-81EC-C41FCD0E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9585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</a:defRPr>
            </a:pPr>
            <a:r>
              <a:rPr sz="1200" b="1">
                <a:solidFill>
                  <a:srgbClr val="17212B"/>
                </a:solidFill>
              </a:rPr>
              <a:t>2 model calls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AF3869-376A-4006-B3C1-D2DF63EF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89A479-2DB3-4A13-ACBA-FF345F5F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D78"/>
                </a:solidFill>
              </a:defRPr>
            </a:pPr>
            <a:r>
              <a:rPr sz="750" b="0">
                <a:solidFill>
                  <a:srgbClr val="5F6D78"/>
                </a:solidFill>
              </a:rPr>
              <a:t>src/shepherd_ai/multiuav_methods.py | src/shepherd_ai/multiuav_prompts.py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F0374E-2387-40E4-A26D-27F660BF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D78"/>
                </a:solidFill>
              </a:defRPr>
            </a:pPr>
            <a:r>
              <a:rPr sz="825" b="1">
                <a:solidFill>
                  <a:srgbClr val="5F6D7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835523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27762-04CD-4FBC-9965-2EE757B5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E"/>
                </a:solidFill>
              </a:defRPr>
            </a:pPr>
            <a:r>
              <a:rPr sz="975" b="1">
                <a:solidFill>
                  <a:srgbClr val="0F5C5E"/>
                </a:solidFill>
              </a:rPr>
              <a:t>SHEPHERD-AI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0BECD-E5EB-48AA-8911-D2AD53F0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Stage-wise validation improves containment, especially at 7B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699F4-D606-4DCC-971C-3B378E35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83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011d5be61444c"/>
          <a:stretch xmlns:a="http://schemas.openxmlformats.org/drawingml/2006/main"/>
        </p:blipFill>
        <p:spPr>
          <a:xfrm xmlns:a="http://schemas.openxmlformats.org/drawingml/2006/main">
            <a:off x="1174699" y="1562100"/>
            <a:ext cx="9842602" cy="4514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B29E0-98B1-4BF8-A583-21837770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5938D-F778-4C5C-9CB2-BB046713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D78"/>
                </a:solidFill>
              </a:defRPr>
            </a:pPr>
            <a:r>
              <a:rPr sz="750" b="0">
                <a:solidFill>
                  <a:srgbClr val="5F6D78"/>
                </a:solidFill>
              </a:rPr>
              <a:t>outputs/tables/multiuav_accuracy_primary_rates_v1.csv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5CCBB-104C-4BB2-8565-D2D39512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D78"/>
                </a:solidFill>
              </a:defRPr>
            </a:pPr>
            <a:r>
              <a:rPr sz="825" b="1">
                <a:solidFill>
                  <a:srgbClr val="5F6D7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025484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792C7-548F-49F9-B464-07EA542C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E"/>
                </a:solidFill>
              </a:defRPr>
            </a:pPr>
            <a:r>
              <a:rPr sz="975" b="1">
                <a:solidFill>
                  <a:srgbClr val="0F5C5E"/>
                </a:solidFill>
              </a:rPr>
              <a:t>SHEPHERD-AI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6C276-23D7-415C-A2C6-4BEAAF93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Containment improved; executable static plan fidelity did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1454D-ACD2-4B33-B255-6B8D2641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AC276-0FDC-4CDC-8EC2-3BF77AEB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447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B4483E"/>
                </a:solidFill>
              </a:defRPr>
            </a:pPr>
            <a:r>
              <a:rPr sz="5100" b="1">
                <a:solidFill>
                  <a:srgbClr val="B4483E"/>
                </a:solidFill>
              </a:rPr>
              <a:t>0 / 852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CA87E-84EC-449A-84E3-DB907183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executable cases achieved static plan fidelity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E6461-889F-400B-8C19-10ECAE84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716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82ABC-646F-4FBB-BF35-F5F47FF3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5C5E"/>
                </a:solidFill>
              </a:defRPr>
            </a:pPr>
            <a:r>
              <a:rPr sz="1800" b="1">
                <a:solidFill>
                  <a:srgbClr val="0F5C5E"/>
                </a:solidFill>
              </a:rPr>
              <a:t>7B M3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5A95A-D225-4815-B9DA-522079B9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0 unsafe proceeds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A9119-B6EB-443C-AD11-D7182CFB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</a:defRPr>
            </a:pPr>
            <a:r>
              <a:rPr sz="1350" b="0">
                <a:solidFill>
                  <a:srgbClr val="5F6D78"/>
                </a:solidFill>
              </a:rPr>
              <a:t>in 568 non-executable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D584C-5F4E-4656-97CA-F2531526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05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228 strict successes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1F661-F1EA-4F4B-9C54-F72E284B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67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78"/>
                </a:solidFill>
              </a:defRPr>
            </a:pPr>
            <a:r>
              <a:rPr sz="1350" b="0">
                <a:solidFill>
                  <a:srgbClr val="5F6D78"/>
                </a:solidFill>
              </a:rPr>
              <a:t>all were containment outcomes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BDFD3-596C-4CFA-AE8A-75659529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C5E"/>
                </a:solidFill>
              </a:defRPr>
            </a:pPr>
            <a:r>
              <a:rPr sz="1200" b="1">
                <a:solidFill>
                  <a:srgbClr val="0F5C5E"/>
                </a:solidFill>
              </a:rPr>
              <a:t>Session 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99513-2674-434B-B2AB-53DECC11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M3 contained every non-executable case in all 15 held-out sessions for both model sizes.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882CE-8BAA-401C-8758-7B663410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8ADBC-B308-484E-BAD2-7D8AE421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D78"/>
                </a:solidFill>
              </a:defRPr>
            </a:pPr>
            <a:r>
              <a:rPr sz="750" b="0">
                <a:solidFill>
                  <a:srgbClr val="5F6D78"/>
                </a:solidFill>
              </a:rPr>
              <a:t>reports/multiuav_accuracy_failure_analysis_v1.md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7CA11-CFA6-42B0-B71C-5366E0A2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D78"/>
                </a:solidFill>
              </a:defRPr>
            </a:pPr>
            <a:r>
              <a:rPr sz="825" b="1">
                <a:solidFill>
                  <a:srgbClr val="5F6D7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450851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31AF0-5893-4D3C-9915-10AF0AC9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E"/>
                </a:solidFill>
              </a:defRPr>
            </a:pPr>
            <a:r>
              <a:rPr sz="975" b="1">
                <a:solidFill>
                  <a:srgbClr val="0F5C5E"/>
                </a:solidFill>
              </a:rPr>
              <a:t>SHEPHERD-AI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2E2A3-D5D0-460D-BAFA-5AC3B64C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The 7B contrast improves both registered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02D7E-370C-4C1E-B818-E45C253B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83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7a653645b42b6"/>
          <a:stretch xmlns:a="http://schemas.openxmlformats.org/drawingml/2006/main"/>
        </p:blipFill>
        <p:spPr>
          <a:xfrm xmlns:a="http://schemas.openxmlformats.org/drawingml/2006/main">
            <a:off x="1501623" y="1562100"/>
            <a:ext cx="9188753" cy="4495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307BF-C0E2-41F3-A687-98295A15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75A4D-5D6E-4356-A44F-337B5EAA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D78"/>
                </a:solidFill>
              </a:defRPr>
            </a:pPr>
            <a:r>
              <a:rPr sz="750" b="0">
                <a:solidFill>
                  <a:srgbClr val="5F6D78"/>
                </a:solidFill>
              </a:rPr>
              <a:t>outputs/tables/multiuav_accuracy_registered_contrasts_v1.csv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584FC-9FA6-4D4D-9805-A3101DC5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D78"/>
                </a:solidFill>
              </a:defRPr>
            </a:pPr>
            <a:r>
              <a:rPr sz="825" b="1">
                <a:solidFill>
                  <a:srgbClr val="5F6D7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13041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25252-D2A0-4D22-97CC-EDD89AE5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E"/>
                </a:solidFill>
              </a:defRPr>
            </a:pPr>
            <a:r>
              <a:rPr sz="975" b="1">
                <a:solidFill>
                  <a:srgbClr val="0F5C5E"/>
                </a:solidFill>
              </a:rPr>
              <a:t>SHEPHERD-AI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DFE96-7B88-4F7A-8E87-5B81230A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Resource effects reverse between 3B and 7B against M1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B828B-D48C-4EBE-826A-3EBB0C55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83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1f222f88f4bd2"/>
          <a:stretch xmlns:a="http://schemas.openxmlformats.org/drawingml/2006/main"/>
        </p:blipFill>
        <p:spPr>
          <a:xfrm xmlns:a="http://schemas.openxmlformats.org/drawingml/2006/main">
            <a:off x="4147958" y="1485900"/>
            <a:ext cx="3915135" cy="4629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24329-DC28-42DB-94C4-16B793AE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6ABFE-C0E0-4A41-9F73-D245255E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D78"/>
                </a:solidFill>
              </a:defRPr>
            </a:pPr>
            <a:r>
              <a:rPr sz="750" b="0">
                <a:solidFill>
                  <a:srgbClr val="5F6D78"/>
                </a:solidFill>
              </a:rPr>
              <a:t>outputs/tables/multiuav_resource_contrasts_v1.csv | RTX 3090 attempt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C0D58-BE2A-4441-84AC-9F27434F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D78"/>
                </a:solidFill>
              </a:defRPr>
            </a:pPr>
            <a:r>
              <a:rPr sz="825" b="1">
                <a:solidFill>
                  <a:srgbClr val="5F6D7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059058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BA80B-BB48-4B90-9DB5-F0B6B34F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5E"/>
                </a:solidFill>
              </a:defRPr>
            </a:pPr>
            <a:r>
              <a:rPr sz="975" b="1">
                <a:solidFill>
                  <a:srgbClr val="0F5C5E"/>
                </a:solidFill>
              </a:rPr>
              <a:t>SHEPHERD-AI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C423A-F4A5-4170-A7D9-EF42153E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Equal model-call counts do not imply equal compute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7AE28-5270-40AC-8478-4FF90D39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83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61f652d634262"/>
          <a:stretch xmlns:a="http://schemas.openxmlformats.org/drawingml/2006/main"/>
        </p:blipFill>
        <p:spPr>
          <a:xfrm xmlns:a="http://schemas.openxmlformats.org/drawingml/2006/main">
            <a:off x="4147211" y="1485900"/>
            <a:ext cx="3916628" cy="4629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DE39F-5FCF-4DDD-9C9C-25FF0AEC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35F77-2C10-48DB-97A8-EDA8A8DA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D78"/>
                </a:solidFill>
              </a:defRPr>
            </a:pPr>
            <a:r>
              <a:rPr sz="750" b="0">
                <a:solidFill>
                  <a:srgbClr val="5F6D78"/>
                </a:solidFill>
              </a:rPr>
              <a:t>M4 is model-call-count-matched only; tokens, latency, memory, and energy remain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D76DF-E8D0-4108-8C34-5EBE9D3C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D78"/>
                </a:solidFill>
              </a:defRPr>
            </a:pPr>
            <a:r>
              <a:rPr sz="825" b="1">
                <a:solidFill>
                  <a:srgbClr val="5F6D7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086101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5C5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B219B-8E36-4B16-B374-425CF5AC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9E7"/>
                </a:solidFill>
              </a:defRPr>
            </a:pPr>
            <a:r>
              <a:rPr sz="1050" b="1">
                <a:solidFill>
                  <a:srgbClr val="DCE9E7"/>
                </a:solidFill>
              </a:rPr>
              <a:t>WHAT THE COMPLETED STUDY SUPPORTS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77B46-7070-473E-8C9B-C02ED045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 narrow, reproducible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559DD-6990-4303-A5B6-0E329932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9E7"/>
                </a:solidFill>
              </a:defRPr>
            </a:pPr>
            <a:r>
              <a:rPr sz="1350" b="1">
                <a:solidFill>
                  <a:srgbClr val="DCE9E7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8E579-D5FE-4194-9674-7362FB48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Validation placement changed failure containment.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ED1FD-7403-451D-988D-A81B931B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908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CFF55-DE63-4988-856D-1BCA6BD0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9E7"/>
                </a:solidFill>
              </a:defRPr>
            </a:pPr>
            <a:r>
              <a:rPr sz="1350" b="1">
                <a:solidFill>
                  <a:srgbClr val="DCE9E7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5FC1D-52CE-4360-A31A-07B39DC2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The effect depended strongly on model scale.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CC04F-BAC3-4009-87C8-8E2E288F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576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14B78-14D0-45E1-8149-45490666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9E7"/>
                </a:solidFill>
              </a:defRPr>
            </a:pPr>
            <a:r>
              <a:rPr sz="1350" b="1">
                <a:solidFill>
                  <a:srgbClr val="DCE9E7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55ED9-F2A4-4948-90D3-56B8544B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5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No method demonstrated executable static plan fidelity.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F4B0E-8930-46CE-B015-6275540D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244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DBF33-1B64-4896-A96F-52E8F90C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9E7"/>
                </a:solidFill>
              </a:defRPr>
            </a:pPr>
            <a:r>
              <a:rPr sz="1350" b="0">
                <a:solidFill>
                  <a:srgbClr val="DCE9E7"/>
                </a:solidFill>
              </a:rPr>
              <a:t>Final package: code, frozen raw evidence, processed tables, figures, manuscript, and reproducibility commands.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B61CC-7251-4D31-9A23-3AD5F5ED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CE9E7"/>
                </a:solidFill>
              </a:defRPr>
            </a:pPr>
            <a:r>
              <a:rPr sz="825" b="1">
                <a:solidFill>
                  <a:srgbClr val="DCE9E7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482105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2026-08-12T11:45:58.8270000Z</dcterms:created>
  <dcterms:modified xsi:type="dcterms:W3CDTF">2026-08-12T11:45:58.8270000Z</dcterms:modified>
</coreProperties>
</file>